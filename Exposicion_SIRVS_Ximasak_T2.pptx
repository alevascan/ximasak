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1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5B21B6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97280"/>
            <a:ext cx="9784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DD6FE"/>
                </a:solidFill>
              </a:defRPr>
            </a:pPr>
            <a:r>
              <a:t>UNIVERSIDAD PRIVADA DEL NORTE  •  FACULTAD DE INGENIERÍA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463040"/>
            <a:ext cx="9784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4B5FD"/>
                </a:solidFill>
              </a:defRPr>
            </a:pPr>
            <a:r>
              <a:t>CURSO: FUNDAMENTOS DE CALIDAD DE SOFTWARE  |  EVALUACIÓN T2 – SEMANA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011680"/>
            <a:ext cx="9784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Sistema Integrado de Reservas de Ventas y Servicio Técnico (SIRVS)</a:t>
            </a:r>
          </a:p>
          <a:p>
            <a:pPr>
              <a:defRPr sz="1800">
                <a:solidFill>
                  <a:srgbClr val="F59E0B"/>
                </a:solidFill>
              </a:defRPr>
            </a:pPr>
            <a:r>
              <a:t>Caso de Estudio: Empresa Ximasak E.I.R.L. — Lima,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3566160"/>
            <a:ext cx="5303520" cy="2103120"/>
          </a:xfrm>
          <a:prstGeom prst="roundRect">
            <a:avLst/>
          </a:prstGeom>
          <a:solidFill>
            <a:srgbClr val="4C1D95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DD6FE"/>
                </a:solidFill>
              </a:defRPr>
            </a:pPr>
            <a:r>
              <a:t>INTEGRANTES (GRUPO 5 - 100% PARTICIPACIÓN):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MALLQUI GUTIERREZ, Giancarlo Sebastian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ROJAS CASTILLO, Angel Andre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TASILLA CAMARGO, Juan Diego Matías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VASQUEZ CANCINO, Christian Alessandro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3566160"/>
            <a:ext cx="4206240" cy="2103120"/>
          </a:xfrm>
          <a:prstGeom prst="roundRect">
            <a:avLst/>
          </a:prstGeom>
          <a:solidFill>
            <a:srgbClr val="4C1D95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DD6FE"/>
                </a:solidFill>
              </a:defRPr>
            </a:pPr>
            <a:r>
              <a:t>DETALLES DE EVALUACIÓN: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Docente: Mg. Esther Tarmeño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Carrera: Ing. de Sistemas Computacionales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Modelo de Calidad: ISO/IEC 25010 &amp; Nielsen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Estado del Software: 100% Probado y Desplegado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5F3FF"/>
          </a:solidFill>
          <a:ln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B21B6"/>
                </a:solidFill>
              </a:defRPr>
            </a:pPr>
            <a:r>
              <a:t>FUNDAMENTOS DE CALIDAD DE SOFTWARE | UPN T2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1B4B"/>
                </a:solidFill>
              </a:defRPr>
            </a:pPr>
            <a:r>
              <a:t>Contexto Organizacional y Problemática Operativa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6459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B21B6"/>
                </a:solidFill>
              </a:defRPr>
            </a:pPr>
            <a:r>
              <a:t>DIAGNÓSTICO EN XIMASAK E.I.R.L.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Empresa dedicada a la venta de repuestos informáticos y servicio de soporte técnico en mostrador.</a:t>
            </a:r>
          </a:p>
          <a:p>
            <a:br/>
            <a:pPr>
              <a:defRPr sz="1150" b="1">
                <a:solidFill>
                  <a:srgbClr val="1E1B4B"/>
                </a:solidFill>
              </a:defRPr>
            </a:pPr>
            <a:r>
              <a:t>🔴 Desafíos Críticos Identificados:</a:t>
            </a:r>
          </a:p>
          <a:p>
            <a:r>
              <a:rPr b="1" sz="1000">
                <a:solidFill>
                  <a:srgbClr val="5B21B6"/>
                </a:solidFill>
              </a:rPr>
              <a:t>• Demoras en Mostrador (PE-01):</a:t>
            </a:r>
            <a:r>
              <a:rPr sz="950">
                <a:solidFill>
                  <a:srgbClr val="334155"/>
                </a:solidFill>
              </a:rPr>
              <a:t> Registro manual y lento de clientes; ausencia de búsqueda ágil por DNI/RUC.</a:t>
            </a:r>
          </a:p>
          <a:p>
            <a:r>
              <a:rPr b="1" sz="1000">
                <a:solidFill>
                  <a:srgbClr val="5B21B6"/>
                </a:solidFill>
              </a:rPr>
              <a:t>• Quiebres de Stock (PE-02):</a:t>
            </a:r>
            <a:r>
              <a:rPr sz="950">
                <a:solidFill>
                  <a:srgbClr val="334155"/>
                </a:solidFill>
              </a:rPr>
              <a:t> Repuestos usados en reparaciones no se descontaban en tiempo real del inventario comercial.</a:t>
            </a:r>
          </a:p>
          <a:p>
            <a:r>
              <a:rPr b="1" sz="1000">
                <a:solidFill>
                  <a:srgbClr val="5B21B6"/>
                </a:solidFill>
              </a:rPr>
              <a:t>• Opacidad y Falta de Trazabilidad (PE-03):</a:t>
            </a:r>
            <a:r>
              <a:rPr sz="950">
                <a:solidFill>
                  <a:srgbClr val="334155"/>
                </a:solidFill>
              </a:rPr>
              <a:t> Clientes sin conocimiento del estado de sus equipos; órdenes perdidas en taller.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3035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7373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B21B6"/>
                </a:solidFill>
              </a:defRPr>
            </a:pPr>
            <a:r>
              <a:t>FIGURA 1: ESTRUCTURA ORGANIZACIONAL Y ROLES</a:t>
            </a:r>
          </a:p>
        </p:txBody>
      </p:sp>
      <p:pic>
        <p:nvPicPr>
          <p:cNvPr id="9" name="Picture 8" descr="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194560"/>
            <a:ext cx="493776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5F3FF"/>
          </a:solidFill>
          <a:ln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B21B6"/>
                </a:solidFill>
              </a:defRPr>
            </a:pPr>
            <a:r>
              <a:t>FUNDAMENTOS DE CALIDAD DE SOFTWARE | UPN T2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1B4B"/>
                </a:solidFill>
              </a:defRPr>
            </a:pPr>
            <a:r>
              <a:t>Objetivos del Proyecto y Solución Integral SIRVS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6459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5720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5B21B6"/>
                </a:solidFill>
              </a:defRPr>
            </a:pPr>
            <a:r>
              <a:t>OBJETIVO GENERAL DEL PROYECTO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Desarrollar e implementar el Sistema Integrado de Reservas de Ventas y Servicio Técnico (SIRVS) para optimizar los procesos comerciales y de taller en Ximasak EIRL.</a:t>
            </a:r>
          </a:p>
          <a:p>
            <a:br/>
            <a:pPr>
              <a:defRPr sz="1150" b="1">
                <a:solidFill>
                  <a:srgbClr val="1E1B4B"/>
                </a:solidFill>
              </a:defRPr>
            </a:pPr>
            <a:r>
              <a:t>🎯 Objetivos Específicos:</a:t>
            </a:r>
          </a:p>
          <a:p>
            <a:r>
              <a:rPr b="1" sz="1000">
                <a:solidFill>
                  <a:srgbClr val="5B21B6"/>
                </a:solidFill>
              </a:rPr>
              <a:t>✔ OE-01: Ventas y POS:</a:t>
            </a:r>
            <a:r>
              <a:rPr sz="950">
                <a:solidFill>
                  <a:srgbClr val="334155"/>
                </a:solidFill>
              </a:rPr>
              <a:t> Automatizar cobro con cálculo de IGV (18%), carrito y emisión de boletas/facturas en PDF.</a:t>
            </a:r>
          </a:p>
          <a:p>
            <a:r>
              <a:rPr b="1" sz="1000">
                <a:solidFill>
                  <a:srgbClr val="5B21B6"/>
                </a:solidFill>
              </a:rPr>
              <a:t>✔ OE-02: Soporte y Citas:</a:t>
            </a:r>
            <a:r>
              <a:rPr sz="950">
                <a:solidFill>
                  <a:srgbClr val="334155"/>
                </a:solidFill>
              </a:rPr>
              <a:t> Agendar citas con calendario interactivo y trazabilidad completa del equipo ingresado.</a:t>
            </a:r>
          </a:p>
          <a:p>
            <a:r>
              <a:rPr b="1" sz="1000">
                <a:solidFill>
                  <a:srgbClr val="5B21B6"/>
                </a:solidFill>
              </a:rPr>
              <a:t>✔ OE-03: Control de Stock:</a:t>
            </a:r>
            <a:r>
              <a:rPr sz="950">
                <a:solidFill>
                  <a:srgbClr val="334155"/>
                </a:solidFill>
              </a:rPr>
              <a:t> Descuento transaccional en tiempo real de repuestos y alertas visuales de stock crítico.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645920"/>
            <a:ext cx="53949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7373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B21B6"/>
                </a:solidFill>
              </a:defRPr>
            </a:pPr>
            <a:r>
              <a:t>FIGURA 2: PÁGINA PRINCIPAL SIRVS Y SERVICIOS</a:t>
            </a:r>
          </a:p>
        </p:txBody>
      </p:sp>
      <p:pic>
        <p:nvPicPr>
          <p:cNvPr id="9" name="Picture 8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194560"/>
            <a:ext cx="50292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5F3FF"/>
          </a:solidFill>
          <a:ln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B21B6"/>
                </a:solidFill>
              </a:defRPr>
            </a:pPr>
            <a:r>
              <a:t>FUNDAMENTOS DE CALIDAD DE SOFTWARE | UPN T2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1B4B"/>
                </a:solidFill>
              </a:defRPr>
            </a:pPr>
            <a:r>
              <a:t>Marco de Calidad ISO/IEC 25010 y Metodología Scrum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6459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B21B6"/>
                </a:solidFill>
              </a:defRPr>
            </a:pPr>
            <a:r>
              <a:t>DIMENSIONES DE CALIDAD DEL SOFTWARE</a:t>
            </a:r>
          </a:p>
          <a:p>
            <a:r>
              <a:rPr b="1" sz="1100">
                <a:solidFill>
                  <a:srgbClr val="1E1B4B"/>
                </a:solidFill>
              </a:rPr>
              <a:t>
• Calidad Interna (Estática):</a:t>
            </a:r>
            <a:r>
              <a:rPr sz="1000">
                <a:solidFill>
                  <a:srgbClr val="334155"/>
                </a:solidFill>
              </a:rPr>
              <a:t> Arquitectura desacoplada por capas (Controller-Service-Repository), Clean Code, código duplicado &lt; 5% y modularidad en Angular.</a:t>
            </a:r>
          </a:p>
          <a:p>
            <a:r>
              <a:rPr b="1" sz="1100">
                <a:solidFill>
                  <a:srgbClr val="1E1B4B"/>
                </a:solidFill>
              </a:rPr>
              <a:t>
• Calidad Externa (Dinámica):</a:t>
            </a:r>
            <a:r>
              <a:rPr sz="1000">
                <a:solidFill>
                  <a:srgbClr val="334155"/>
                </a:solidFill>
              </a:rPr>
              <a:t> Rendimiento veloz (tiempos ≤ 2s bajo carga), fiabilidad transaccional en ventas y persistencia íntegra en MariaDB/MySQL.</a:t>
            </a:r>
          </a:p>
          <a:p>
            <a:r>
              <a:rPr b="1" sz="1100">
                <a:solidFill>
                  <a:srgbClr val="1E1B4B"/>
                </a:solidFill>
              </a:rPr>
              <a:t>
• Calidad en Uso (Operacional):</a:t>
            </a:r>
            <a:r>
              <a:rPr sz="1000">
                <a:solidFill>
                  <a:srgbClr val="334155"/>
                </a:solidFill>
              </a:rPr>
              <a:t> Evaluación heurística de Nielsen: visibilidad del estado, prevención de errores en mostrador y modo alto contraste para accesibilidad.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303520" cy="45720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B21B6"/>
                </a:solidFill>
              </a:defRPr>
            </a:pPr>
            <a:r>
              <a:t>DESARROLLO ÁGIL: 3 SPRINTS QUINCENALES</a:t>
            </a:r>
          </a:p>
          <a:p>
            <a:pPr>
              <a:defRPr b="1" sz="1100">
                <a:solidFill>
                  <a:srgbClr val="1E1B4B"/>
                </a:solidFill>
              </a:defRPr>
            </a:pPr>
            <a:r>
              <a:t>Sprint 1 (9 SP): Seguridad y Accesos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Login JWT + BCrypt (HU-01)</a:t>
            </a:r>
            <a:br/>
            <a:r>
              <a:t>• Registro de clientes (HU-02)</a:t>
            </a:r>
            <a:br/>
            <a:r>
              <a:t>• Recuperación con token y correo SMTP (HU-03)</a:t>
            </a:r>
            <a:br/>
            <a:r>
              <a:t>• Bloqueo tras 3 fallos (RNF-02)</a:t>
            </a:r>
          </a:p>
          <a:p>
            <a:pPr>
              <a:defRPr b="1" sz="1100">
                <a:solidFill>
                  <a:srgbClr val="1E1B4B"/>
                </a:solidFill>
              </a:defRPr>
            </a:pPr>
            <a:r>
              <a:t>Sprint 2 (8 SP): Ventas y Carrito POS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Búsqueda por DNI/RUC en mostrador (HU-04)</a:t>
            </a:r>
            <a:br/>
            <a:r>
              <a:t>• Terminal POS con cálculo de IGV (HU-05)</a:t>
            </a:r>
            <a:br/>
            <a:r>
              <a:t>• Descuento automático de stock en MySQL</a:t>
            </a:r>
          </a:p>
          <a:p>
            <a:pPr>
              <a:defRPr b="1" sz="1100">
                <a:solidFill>
                  <a:srgbClr val="1E1B4B"/>
                </a:solidFill>
              </a:defRPr>
            </a:pPr>
            <a:r>
              <a:t>Sprint 3 (18 SP): Soporte, Dashboard y Calidad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Agendamiento de citas con calendario (HU-06)</a:t>
            </a:r>
            <a:br/>
            <a:r>
              <a:t>• Atención de tickets con botón de acción (HU-08)</a:t>
            </a:r>
            <a:br/>
            <a:r>
              <a:t>• Envío de correo 'Equipo Reparado' (HU-11)</a:t>
            </a:r>
            <a:br/>
            <a:r>
              <a:t>• Dashboard administrativo con métricas (HU-12)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5F3FF"/>
          </a:solidFill>
          <a:ln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B21B6"/>
                </a:solidFill>
              </a:defRPr>
            </a:pPr>
            <a:r>
              <a:t>FUNDAMENTOS DE CALIDAD DE SOFTWARE | UPN T2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1B4B"/>
                </a:solidFill>
              </a:defRPr>
            </a:pPr>
            <a:r>
              <a:t>Arquitectura Tecnológica del Sistema SIRVS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6459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B21B6"/>
                </a:solidFill>
              </a:defRPr>
            </a:pPr>
            <a:r>
              <a:t>FRONTEND (CLIENTE)</a:t>
            </a:r>
          </a:p>
          <a:p>
            <a:pPr>
              <a:defRPr sz="1500" b="1">
                <a:solidFill>
                  <a:srgbClr val="1E1B4B"/>
                </a:solidFill>
              </a:defRPr>
            </a:pPr>
            <a:r>
              <a:t>Angular 17</a:t>
            </a:r>
          </a:p>
          <a:p>
            <a:br/>
            <a:pPr>
              <a:defRPr sz="1000" b="1">
                <a:solidFill>
                  <a:srgbClr val="7C3AED"/>
                </a:solidFill>
              </a:defRPr>
            </a:pPr>
            <a:r>
              <a:t>Características implementadas: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Standalone Components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TypeScript &amp; RxJS Reactivo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HttpClient asíncrono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Modo Alto Contraste (Nielsen)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Interfaz responsiva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B21B6"/>
                </a:solidFill>
              </a:defRPr>
            </a:pPr>
            <a:r>
              <a:t>BACKEND (SERVIDOR)</a:t>
            </a:r>
          </a:p>
          <a:p>
            <a:pPr>
              <a:defRPr sz="1500" b="1">
                <a:solidFill>
                  <a:srgbClr val="1E1B4B"/>
                </a:solidFill>
              </a:defRPr>
            </a:pPr>
            <a:r>
              <a:t>Spring Boot 3.5 &amp; Java 21</a:t>
            </a:r>
          </a:p>
          <a:p>
            <a:br/>
            <a:pPr>
              <a:defRPr sz="1000" b="1">
                <a:solidFill>
                  <a:srgbClr val="7C3AED"/>
                </a:solidFill>
              </a:defRPr>
            </a:pPr>
            <a:r>
              <a:t>Características implementadas: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Controladores REST desacoplados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Spring Data JPA &amp; Hibernate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Transacciones ACID (@Transactional)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OpenPDF (iText) para comprobantes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JavaMailSender (Gmail SMTP)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B21B6"/>
                </a:solidFill>
              </a:defRPr>
            </a:pPr>
            <a:r>
              <a:t>SEGURIDAD &amp; BD</a:t>
            </a:r>
          </a:p>
          <a:p>
            <a:pPr>
              <a:defRPr sz="1500" b="1">
                <a:solidFill>
                  <a:srgbClr val="1E1B4B"/>
                </a:solidFill>
              </a:defRPr>
            </a:pPr>
            <a:r>
              <a:t>MySQL / MariaDB &amp; JWT</a:t>
            </a:r>
          </a:p>
          <a:p>
            <a:br/>
            <a:pPr>
              <a:defRPr sz="1000" b="1">
                <a:solidFill>
                  <a:srgbClr val="7C3AED"/>
                </a:solidFill>
              </a:defRPr>
            </a:pPr>
            <a:r>
              <a:t>Características implementadas: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16 tablas relacionales normalizadas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Tokens JWT (HMAC-SHA256)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Encriptación de claves con BCrypt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Bloqueo tras 3 intentos (RNF-02)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Tokens de recuperación con expiración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5F3FF"/>
          </a:solidFill>
          <a:ln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B21B6"/>
                </a:solidFill>
              </a:defRPr>
            </a:pPr>
            <a:r>
              <a:t>FUNDAMENTOS DE CALIDAD DE SOFTWARE | UPN T2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1B4B"/>
                </a:solidFill>
              </a:defRPr>
            </a:pPr>
            <a:r>
              <a:t>Sprint 1: Seguridad, Autenticación y Recuperación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6459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754880" cy="45720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389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B21B6"/>
                </a:solidFill>
              </a:defRPr>
            </a:pPr>
            <a:r>
              <a:t>LOGROS DE SEGURIDAD (SPRINT 1)</a:t>
            </a:r>
          </a:p>
          <a:p>
            <a:r>
              <a:rPr b="1" sz="1050">
                <a:solidFill>
                  <a:srgbClr val="1E1B4B"/>
                </a:solidFill>
              </a:rPr>
              <a:t>✔ HU-01: Autenticación por Roles
</a:t>
            </a:r>
            <a:r>
              <a:rPr sz="950">
                <a:solidFill>
                  <a:srgbClr val="334155"/>
                </a:solidFill>
              </a:rPr>
              <a:t>Tokens JWT sin estado. Roles diferenciados: Administrador, Asistente de Ventas, Técnico y Cliente.
</a:t>
            </a:r>
          </a:p>
          <a:p>
            <a:r>
              <a:rPr b="1" sz="1050">
                <a:solidFill>
                  <a:srgbClr val="1E1B4B"/>
                </a:solidFill>
              </a:rPr>
              <a:t>✔ HU-02: Modal Dinámico
</a:t>
            </a:r>
            <a:r>
              <a:rPr sz="950">
                <a:solidFill>
                  <a:srgbClr val="334155"/>
                </a:solidFill>
              </a:rPr>
              <a:t>Pestañas Ingresar / Registrar con validación reactiva en tiempo real en Angular.
</a:t>
            </a:r>
          </a:p>
          <a:p>
            <a:r>
              <a:rPr b="1" sz="1050">
                <a:solidFill>
                  <a:srgbClr val="1E1B4B"/>
                </a:solidFill>
              </a:rPr>
              <a:t>✔ HU-03 &amp; DEF-03: Recuperación de Clave
</a:t>
            </a:r>
            <a:r>
              <a:rPr sz="950">
                <a:solidFill>
                  <a:srgbClr val="334155"/>
                </a:solidFill>
              </a:rPr>
              <a:t>Token UUID válido por 30 minutos y pantalla /resetear-password operativa.
</a:t>
            </a:r>
          </a:p>
          <a:p>
            <a:r>
              <a:rPr b="1" sz="1050">
                <a:solidFill>
                  <a:srgbClr val="1E1B4B"/>
                </a:solidFill>
              </a:rPr>
              <a:t>✔ DEF-04 &amp; RNF-02: Bloqueo de Cuenta
</a:t>
            </a:r>
            <a:r>
              <a:rPr sz="950">
                <a:solidFill>
                  <a:srgbClr val="334155"/>
                </a:solidFill>
              </a:rPr>
              <a:t>Bloqueo automático preventivo al tercer intento fallido consecutivo en AuthService.
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645920"/>
            <a:ext cx="5669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6916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5B21B6"/>
                </a:solidFill>
              </a:defRPr>
            </a:pPr>
            <a:r>
              <a:t>FIGURA 3: MODAL DE ACCESO Y REGISTRO</a:t>
            </a:r>
          </a:p>
        </p:txBody>
      </p:sp>
      <p:pic>
        <p:nvPicPr>
          <p:cNvPr id="9" name="Picture 8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965960"/>
            <a:ext cx="5303520" cy="1783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760720" y="4023360"/>
            <a:ext cx="5669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40690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5B21B6"/>
                </a:solidFill>
              </a:defRPr>
            </a:pPr>
            <a:r>
              <a:t>FIGURA 4: INGRESO DE CREDENCIALES DE ADMINISTRADOR</a:t>
            </a:r>
          </a:p>
        </p:txBody>
      </p:sp>
      <p:pic>
        <p:nvPicPr>
          <p:cNvPr id="12" name="Picture 11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4343400"/>
            <a:ext cx="5303520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5F3FF"/>
          </a:solidFill>
          <a:ln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B21B6"/>
                </a:solidFill>
              </a:defRPr>
            </a:pPr>
            <a:r>
              <a:t>FUNDAMENTOS DE CALIDAD DE SOFTWARE | UPN T2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1B4B"/>
                </a:solidFill>
              </a:defRPr>
            </a:pPr>
            <a:r>
              <a:t>Sprint 2: Terminal Punto de Venta (POS) y Comprobantes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6459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5720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B21B6"/>
                </a:solidFill>
              </a:defRPr>
            </a:pPr>
            <a:r>
              <a:t>OPERATIVIDAD EN MOSTRADOR (HU-04 Y HU-05)</a:t>
            </a:r>
          </a:p>
          <a:p>
            <a:r>
              <a:rPr b="1" sz="1050">
                <a:solidFill>
                  <a:srgbClr val="1E1B4B"/>
                </a:solidFill>
              </a:rPr>
              <a:t>✔ HU-04: Búsqueda Rápida en Mostrador
</a:t>
            </a:r>
            <a:r>
              <a:rPr sz="950">
                <a:solidFill>
                  <a:srgbClr val="334155"/>
                </a:solidFill>
              </a:rPr>
              <a:t>Búsqueda reactiva de clientes por DNI (8 dígitos) o RUC (11 dígitos) con validación en BD.
</a:t>
            </a:r>
          </a:p>
          <a:p>
            <a:r>
              <a:rPr b="1" sz="1050">
                <a:solidFill>
                  <a:srgbClr val="1E1B4B"/>
                </a:solidFill>
              </a:rPr>
              <a:t>✔ HU-05: Carrito y Cálculo de IGV
</a:t>
            </a:r>
            <a:r>
              <a:rPr sz="950">
                <a:solidFill>
                  <a:srgbClr val="334155"/>
                </a:solidFill>
              </a:rPr>
              <a:t>Adición de productos/repuestos al carrito interactivo, cálculo en vivo de Subtotal sin IGV, 18% IGV y Total.
</a:t>
            </a:r>
          </a:p>
          <a:p>
            <a:r>
              <a:rPr b="1" sz="1050">
                <a:solidFill>
                  <a:srgbClr val="1E1B4B"/>
                </a:solidFill>
              </a:rPr>
              <a:t>✔ RF-06: Descuento Inmediato de Stock
</a:t>
            </a:r>
            <a:r>
              <a:rPr sz="950">
                <a:solidFill>
                  <a:srgbClr val="334155"/>
                </a:solidFill>
              </a:rPr>
              <a:t>Al procesar la venta en /api/ventas, MySQL descuenta las existencias atómicamente.
</a:t>
            </a:r>
          </a:p>
          <a:p>
            <a:r>
              <a:rPr b="1" sz="1050">
                <a:solidFill>
                  <a:srgbClr val="1E1B4B"/>
                </a:solidFill>
              </a:rPr>
              <a:t>✔ ComprobanteService: PDF Oficial
</a:t>
            </a:r>
            <a:r>
              <a:rPr sz="950">
                <a:solidFill>
                  <a:srgbClr val="334155"/>
                </a:solidFill>
              </a:rPr>
              <a:t>Generación de Boletas (B001) y Facturas (F001) con formato comercial e impresión instantánea.
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645920"/>
            <a:ext cx="53949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7373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B21B6"/>
                </a:solidFill>
              </a:defRPr>
            </a:pPr>
            <a:r>
              <a:t>FIGURA 5: MÓDULO DE CATÁLOGO INTERACTIVO CON FILTROS</a:t>
            </a:r>
          </a:p>
        </p:txBody>
      </p:sp>
      <p:pic>
        <p:nvPicPr>
          <p:cNvPr id="9" name="Picture 8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194560"/>
            <a:ext cx="5029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5F3FF"/>
          </a:solidFill>
          <a:ln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B21B6"/>
                </a:solidFill>
              </a:defRPr>
            </a:pPr>
            <a:r>
              <a:t>FUNDAMENTOS DE CALIDAD DE SOFTWARE | UPN T2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1B4B"/>
                </a:solidFill>
              </a:defRPr>
            </a:pPr>
            <a:r>
              <a:t>Sprint 3: Servicio Técnico, Tickets y Notificaciones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6459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5720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B21B6"/>
                </a:solidFill>
              </a:defRPr>
            </a:pPr>
            <a:r>
              <a:t>TRAZABILIDAD EN TALLER (HU-06, 08 Y 11)</a:t>
            </a:r>
          </a:p>
          <a:p>
            <a:r>
              <a:rPr b="1" sz="1050">
                <a:solidFill>
                  <a:srgbClr val="1E1B4B"/>
                </a:solidFill>
              </a:rPr>
              <a:t>✔ HU-06: Agendamiento de Citas
</a:t>
            </a:r>
            <a:r>
              <a:rPr sz="950">
                <a:solidFill>
                  <a:srgbClr val="334155"/>
                </a:solidFill>
              </a:rPr>
              <a:t>Calendario mensual interactivo con selección de fecha, hora, teléfono y descripción de la falla técnica.
</a:t>
            </a:r>
          </a:p>
          <a:p>
            <a:r>
              <a:rPr b="1" sz="1050">
                <a:solidFill>
                  <a:srgbClr val="1E1B4B"/>
                </a:solidFill>
              </a:rPr>
              <a:t>✔ HU-08: Botón 'Atender / Finalizar'
</a:t>
            </a:r>
            <a:r>
              <a:rPr sz="950">
                <a:solidFill>
                  <a:srgbClr val="334155"/>
                </a:solidFill>
              </a:rPr>
              <a:t>Columna 'Acciones' en la tabla de Tickets del Dashboard. El técnico actualiza el estado a 'ATENDIDA' con badge verde.
</a:t>
            </a:r>
          </a:p>
          <a:p>
            <a:r>
              <a:rPr b="1" sz="1050">
                <a:solidFill>
                  <a:srgbClr val="1E1B4B"/>
                </a:solidFill>
              </a:rPr>
              <a:t>✔ HU-11: Notificación por Correo
</a:t>
            </a:r>
            <a:r>
              <a:rPr sz="950">
                <a:solidFill>
                  <a:srgbClr val="334155"/>
                </a:solidFill>
              </a:rPr>
              <a:t>Integración con JavaMailSender que envía un correo automático al cliente avisando que su equipo está reparado y listo para retiro.
</a:t>
            </a:r>
          </a:p>
          <a:p>
            <a:r>
              <a:rPr b="1" sz="1050">
                <a:solidFill>
                  <a:srgbClr val="1E1B4B"/>
                </a:solidFill>
              </a:rPr>
              <a:t>✔ DEF-05: Catálogo Conectado a BD
</a:t>
            </a:r>
            <a:r>
              <a:rPr sz="950">
                <a:solidFill>
                  <a:srgbClr val="334155"/>
                </a:solidFill>
              </a:rPr>
              <a:t>Consumo directo desde la base de datos MySQL eliminando el almacenamiento aislado.
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645920"/>
            <a:ext cx="53949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7373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B21B6"/>
                </a:solidFill>
              </a:defRPr>
            </a:pPr>
            <a:r>
              <a:t>FIGURA 6: MÓDULO DE RESERVAS CON CALENDARIO</a:t>
            </a:r>
          </a:p>
        </p:txBody>
      </p:sp>
      <p:pic>
        <p:nvPicPr>
          <p:cNvPr id="9" name="Picture 8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194560"/>
            <a:ext cx="5029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5F3FF"/>
          </a:solidFill>
          <a:ln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B21B6"/>
                </a:solidFill>
              </a:defRPr>
            </a:pPr>
            <a:r>
              <a:t>FUNDAMENTOS DE CALIDAD DE SOFTWARE | UPN T2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1B4B"/>
                </a:solidFill>
              </a:defRPr>
            </a:pPr>
            <a:r>
              <a:t>Calidad en Uso: Heurísticas de Nielsen y Accesibilidad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6459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5720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B21B6"/>
                </a:solidFill>
              </a:defRPr>
            </a:pPr>
            <a:r>
              <a:t>APLICACIÓN DE HEURÍSTICAS DE NIELSEN</a:t>
            </a:r>
          </a:p>
          <a:p>
            <a:r>
              <a:rPr b="1" sz="1050">
                <a:solidFill>
                  <a:srgbClr val="1E1B4B"/>
                </a:solidFill>
              </a:rPr>
              <a:t>✔ 1. Visibilidad del Estado:
</a:t>
            </a:r>
            <a:r>
              <a:rPr sz="950">
                <a:solidFill>
                  <a:srgbClr val="334155"/>
                </a:solidFill>
              </a:rPr>
              <a:t>Indicadores visuales en tiempo real, alertas de stock mínimo y estados claros en tickets ('Pendiente', 'Atendida').
</a:t>
            </a:r>
          </a:p>
          <a:p>
            <a:r>
              <a:rPr b="1" sz="1050">
                <a:solidFill>
                  <a:srgbClr val="1E1B4B"/>
                </a:solidFill>
              </a:rPr>
              <a:t>✔ 2. Prevención de Errores:
</a:t>
            </a:r>
            <a:r>
              <a:rPr sz="950">
                <a:solidFill>
                  <a:srgbClr val="334155"/>
                </a:solidFill>
              </a:rPr>
              <a:t>Validaciones reactivas en formularios (DNI 8 dígitos, campos obligatorios, control de stock disponible).
</a:t>
            </a:r>
          </a:p>
          <a:p>
            <a:r>
              <a:rPr b="1" sz="1050">
                <a:solidFill>
                  <a:srgbClr val="1E1B4B"/>
                </a:solidFill>
              </a:rPr>
              <a:t>✔ 3. Consistencia y Estándares:
</a:t>
            </a:r>
            <a:r>
              <a:rPr sz="950">
                <a:solidFill>
                  <a:srgbClr val="334155"/>
                </a:solidFill>
              </a:rPr>
              <a:t>Uso de iconografía y terminología técnica/comercial estándar de Ximasak en todos los módulos.
</a:t>
            </a:r>
          </a:p>
          <a:p>
            <a:r>
              <a:rPr b="1" sz="1050">
                <a:solidFill>
                  <a:srgbClr val="1E1B4B"/>
                </a:solidFill>
              </a:rPr>
              <a:t>✔ 4. Flexibilidad &amp; Accesibilidad:
</a:t>
            </a:r>
            <a:r>
              <a:rPr sz="950">
                <a:solidFill>
                  <a:srgbClr val="334155"/>
                </a:solidFill>
              </a:rPr>
              <a:t>Botón 'Alternar Contraste' que activa un tema oscuro de alto contraste para reducir fatiga visual en jornadas extensas.
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645920"/>
            <a:ext cx="53949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7373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B21B6"/>
                </a:solidFill>
              </a:defRPr>
            </a:pPr>
            <a:r>
              <a:t>FIGURA 7: APLICACIÓN DEL MODO ALTO CONTRASTE</a:t>
            </a:r>
          </a:p>
        </p:txBody>
      </p:sp>
      <p:pic>
        <p:nvPicPr>
          <p:cNvPr id="9" name="Picture 8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194560"/>
            <a:ext cx="5029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5F3FF"/>
          </a:solidFill>
          <a:ln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B21B6"/>
                </a:solidFill>
              </a:defRPr>
            </a:pPr>
            <a:r>
              <a:t>FUNDAMENTOS DE CALIDAD DE SOFTWARE | UPN T2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1B4B"/>
                </a:solidFill>
              </a:defRPr>
            </a:pPr>
            <a:r>
              <a:t>Aseguramiento de Calidad: Pruebas Unitarias y Funcionales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6459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128016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15 de 15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Tests Unitarios Aprobados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128016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7373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B21B6"/>
                </a:solidFill>
              </a:defRPr>
            </a:pPr>
            <a:r>
              <a:t>100%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Efectividad en Testing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128016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59" y="17373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0 Fallos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Errores en Backend (BUILD SUCCESS)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128016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17373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1B4B"/>
                </a:solidFill>
              </a:defRPr>
            </a:pPr>
            <a:r>
              <a:t>1.2 seg</a:t>
            </a:r>
          </a:p>
          <a:p>
            <a:pPr algn="ctr">
              <a:defRPr sz="950">
                <a:solidFill>
                  <a:srgbClr val="334155"/>
                </a:solidFill>
              </a:defRPr>
            </a:pPr>
            <a:r>
              <a:t>Tiempo Renderizado (RNF-01)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08960"/>
            <a:ext cx="5212080" cy="32004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20040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5B21B6"/>
                </a:solidFill>
              </a:defRPr>
            </a:pPr>
            <a:r>
              <a:t>SUITE DE PRUEBAS UNITARIAS (JUNIT 5 &amp; MOCKITO)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VentaServiceTest: Cálculo transaccional de IGV (18%), rechazo de carrito vacío y validación de stock insuficiente.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AuthServiceTest: Generación de token JWT, bloqueo de cuenta y credenciales incorrectas.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PasswordResetTest: Token UUID, vigencia de 30 min y rechazo de tokens vencidos o usados.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ClienteServiceTest: Búsqueda por DNI/RUC y protección ante parámetros nulos.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108960"/>
            <a:ext cx="5212080" cy="32004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20040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5B21B6"/>
                </a:solidFill>
              </a:defRPr>
            </a:pPr>
            <a:r>
              <a:t>PRUEBAS FUNCIONALES DE INTERFAZ (FRONTEND E2E)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CP-FT-01: Carga y render de inicio en 1.2s (≤ 2s RNF-01).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CP-FT-02/03: Despliegue de modal y login exitoso de Administrador.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CP-FT-04: Filtrado dinámico en catálogo de repuestos.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CP-FT-05: Registro de cita técnica con confirmación visual.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CP-FT-06: Activación de Alto Contraste (Nielsen #7).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CP-FT-07/08: KPIs en Dashboard y gestión reactiva de clientes.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5F3FF"/>
          </a:solidFill>
          <a:ln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B21B6"/>
                </a:solidFill>
              </a:defRPr>
            </a:pPr>
            <a:r>
              <a:t>FUNDAMENTOS DE CALIDAD DE SOFTWARE | UPN T2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1B4B"/>
                </a:solidFill>
              </a:defRPr>
            </a:pPr>
            <a:r>
              <a:t>Gestión de Calidad: 100% de Defectos Resueltos (Sección 6.4)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6459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32588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5B21B6"/>
                </a:solidFill>
              </a:rPr>
              <a:t>DEF-01 (Crítica)  </a:t>
            </a:r>
            <a:r>
              <a:rPr b="1" sz="1000">
                <a:solidFill>
                  <a:srgbClr val="10B981"/>
                </a:solidFill>
              </a:rPr>
              <a:t>[CERRADO]</a:t>
            </a:r>
          </a:p>
          <a:p>
            <a:pPr>
              <a:defRPr b="1" sz="1000">
                <a:solidFill>
                  <a:srgbClr val="1E1B4B"/>
                </a:solidFill>
              </a:defRPr>
            </a:pPr>
            <a:r>
              <a:t>Mapeo de Registro en AuthController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Solución: Corregida anotación @PostMapping('/registro') en lugar de listar usuarios.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132588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73736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5B21B6"/>
                </a:solidFill>
              </a:rPr>
              <a:t>DEF-02 (Alta)  </a:t>
            </a:r>
            <a:r>
              <a:rPr b="1" sz="1000">
                <a:solidFill>
                  <a:srgbClr val="10B981"/>
                </a:solidFill>
              </a:rPr>
              <a:t>[CERRADO]</a:t>
            </a:r>
          </a:p>
          <a:p>
            <a:pPr>
              <a:defRPr b="1" sz="1000">
                <a:solidFill>
                  <a:srgbClr val="1E1B4B"/>
                </a:solidFill>
              </a:defRPr>
            </a:pPr>
            <a:r>
              <a:t>Rol CLIENTE ausente en BD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Solución: Incorporado rol 'CLIENTE' con ID: 4 en tabla roles de MySQL.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5120640" cy="132588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5B21B6"/>
                </a:solidFill>
              </a:rPr>
              <a:t>DEF-03 (Media)  </a:t>
            </a:r>
            <a:r>
              <a:rPr b="1" sz="1000">
                <a:solidFill>
                  <a:srgbClr val="10B981"/>
                </a:solidFill>
              </a:rPr>
              <a:t>[CERRADO]</a:t>
            </a:r>
          </a:p>
          <a:p>
            <a:pPr>
              <a:defRPr b="1" sz="1000">
                <a:solidFill>
                  <a:srgbClr val="1E1B4B"/>
                </a:solidFill>
              </a:defRPr>
            </a:pPr>
            <a:r>
              <a:t>Ruta /resetear-password faltante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Solución: Creada pantalla y ruta en Angular para restablecer contraseña con token.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108960"/>
            <a:ext cx="5120640" cy="132588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320040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5B21B6"/>
                </a:solidFill>
              </a:rPr>
              <a:t>DEF-04 (Media)  </a:t>
            </a:r>
            <a:r>
              <a:rPr b="1" sz="1000">
                <a:solidFill>
                  <a:srgbClr val="10B981"/>
                </a:solidFill>
              </a:rPr>
              <a:t>[CERRADO]</a:t>
            </a:r>
          </a:p>
          <a:p>
            <a:pPr>
              <a:defRPr b="1" sz="1000">
                <a:solidFill>
                  <a:srgbClr val="1E1B4B"/>
                </a:solidFill>
              </a:defRPr>
            </a:pPr>
            <a:r>
              <a:t>Bloqueo por 3 intentos fallidos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Solución: Implementado contador en AuthService con mensaje RNF-02 y bloqueo.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72000"/>
            <a:ext cx="5120640" cy="132588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66344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5B21B6"/>
                </a:solidFill>
              </a:rPr>
              <a:t>DEF-05 (Media)  </a:t>
            </a:r>
            <a:r>
              <a:rPr b="1" sz="1000">
                <a:solidFill>
                  <a:srgbClr val="10B981"/>
                </a:solidFill>
              </a:rPr>
              <a:t>[CERRADO]</a:t>
            </a:r>
          </a:p>
          <a:p>
            <a:pPr>
              <a:defRPr b="1" sz="1000">
                <a:solidFill>
                  <a:srgbClr val="1E1B4B"/>
                </a:solidFill>
              </a:defRPr>
            </a:pPr>
            <a:r>
              <a:t>Catálogo usando localStorage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Solución: CatalogoService migrado para consumir directamente la BD en /api/productos.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572000"/>
            <a:ext cx="5120640" cy="132588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466344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5B21B6"/>
                </a:solidFill>
              </a:rPr>
              <a:t>DEF-06 (Baja)  </a:t>
            </a:r>
            <a:r>
              <a:rPr b="1" sz="1000">
                <a:solidFill>
                  <a:srgbClr val="10B981"/>
                </a:solidFill>
              </a:rPr>
              <a:t>[CERRADO]</a:t>
            </a:r>
          </a:p>
          <a:p>
            <a:pPr>
              <a:defRPr b="1" sz="1000">
                <a:solidFill>
                  <a:srgbClr val="1E1B4B"/>
                </a:solidFill>
              </a:defRPr>
            </a:pPr>
            <a:r>
              <a:t>Codificación de caracteres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Solución: Estandarización de archivos en UTF-8 eliminando caracteres corruptos.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5F3FF"/>
          </a:solidFill>
          <a:ln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B21B6"/>
                </a:solidFill>
              </a:defRPr>
            </a:pPr>
            <a:r>
              <a:t>FUNDAMENTOS DE CALIDAD DE SOFTWARE | UPN T2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1B4B"/>
                </a:solidFill>
              </a:defRPr>
            </a:pPr>
            <a:r>
              <a:t>Dashboard Administrativo y Control de Negocio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6459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5720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B21B6"/>
                </a:solidFill>
              </a:defRPr>
            </a:pPr>
            <a:r>
              <a:t>MÉTRICAS Y CONTROL EN TIEMPO REAL</a:t>
            </a:r>
          </a:p>
          <a:p>
            <a:r>
              <a:rPr b="1" sz="1050">
                <a:solidFill>
                  <a:srgbClr val="1E1B4B"/>
                </a:solidFill>
              </a:rPr>
              <a:t>✔ Visualización de Ingresos (HU-12):
</a:t>
            </a:r>
            <a:r>
              <a:rPr sz="950">
                <a:solidFill>
                  <a:srgbClr val="334155"/>
                </a:solidFill>
              </a:rPr>
              <a:t> Tarjetas dinámicas con ventas del día, ventas del periodo y efectividad comercial.
</a:t>
            </a:r>
          </a:p>
          <a:p>
            <a:r>
              <a:rPr b="1" sz="1050">
                <a:solidFill>
                  <a:srgbClr val="1E1B4B"/>
                </a:solidFill>
              </a:rPr>
              <a:t>✔ Alertas de Stock Crítico (HU-10):
</a:t>
            </a:r>
            <a:r>
              <a:rPr sz="950">
                <a:solidFill>
                  <a:srgbClr val="334155"/>
                </a:solidFill>
              </a:rPr>
              <a:t> Detección automática de productos con existencia ≤ 3 unidades para gestión oportuna con proveedores.
</a:t>
            </a:r>
          </a:p>
          <a:p>
            <a:r>
              <a:rPr b="1" sz="1050">
                <a:solidFill>
                  <a:srgbClr val="1E1B4B"/>
                </a:solidFill>
              </a:rPr>
              <a:t>✔ Tendencias de Ventas:
</a:t>
            </a:r>
            <a:r>
              <a:rPr sz="950">
                <a:solidFill>
                  <a:srgbClr val="334155"/>
                </a:solidFill>
              </a:rPr>
              <a:t> Gráficos interactivos filtrables por día, semana, mes y año fiscal.
</a:t>
            </a:r>
          </a:p>
          <a:p>
            <a:r>
              <a:rPr b="1" sz="1050">
                <a:solidFill>
                  <a:srgbClr val="1E1B4B"/>
                </a:solidFill>
              </a:rPr>
              <a:t>✔ Gestión Centralizada:
</a:t>
            </a:r>
            <a:r>
              <a:rPr sz="950">
                <a:solidFill>
                  <a:srgbClr val="334155"/>
                </a:solidFill>
              </a:rPr>
              <a:t> Acceso directo a POS, clientes, trabajadores, roles e inventario desde el panel lateral.
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645920"/>
            <a:ext cx="53949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7373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B21B6"/>
                </a:solidFill>
              </a:defRPr>
            </a:pPr>
            <a:r>
              <a:t>FIGURA 8: DASHBOARD ADMINISTRATIVO Y KPIS</a:t>
            </a:r>
          </a:p>
        </p:txBody>
      </p:sp>
      <p:pic>
        <p:nvPicPr>
          <p:cNvPr id="9" name="Picture 8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194560"/>
            <a:ext cx="5029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4114800" cy="320040"/>
          </a:xfrm>
          <a:prstGeom prst="roundRect">
            <a:avLst/>
          </a:prstGeom>
          <a:solidFill>
            <a:srgbClr val="F5F3FF"/>
          </a:solidFill>
          <a:ln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5B21B6"/>
                </a:solidFill>
              </a:defRPr>
            </a:pPr>
            <a:r>
              <a:t>FUNDAMENTOS DE CALIDAD DE SOFTWARE | UPN T2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1B4B"/>
                </a:solidFill>
              </a:defRPr>
            </a:pPr>
            <a:r>
              <a:t>Conclusiones y Demostración en Vivo del Sistema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6459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669280" cy="45720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B21B6"/>
                </a:solidFill>
              </a:defRPr>
            </a:pPr>
            <a:r>
              <a:t>CONCLUSIONES DE LA EVALUACIÓN T2</a:t>
            </a:r>
          </a:p>
          <a:p>
            <a:r>
              <a:rPr b="1" sz="1050">
                <a:solidFill>
                  <a:srgbClr val="1E1B4B"/>
                </a:solidFill>
              </a:rPr>
              <a:t>✔ Cumplimiento Integral de Calidad:
</a:t>
            </a:r>
            <a:r>
              <a:rPr sz="950">
                <a:solidFill>
                  <a:srgbClr val="334155"/>
                </a:solidFill>
              </a:rPr>
              <a:t> Se demostró la aplicación rigurosa del modelo ISO/IEC 25010 en sus 3 dimensiones (interna, externa y en uso).
</a:t>
            </a:r>
          </a:p>
          <a:p>
            <a:r>
              <a:rPr b="1" sz="1050">
                <a:solidFill>
                  <a:srgbClr val="1E1B4B"/>
                </a:solidFill>
              </a:rPr>
              <a:t>✔ Resolución de la Problemática:
</a:t>
            </a:r>
            <a:r>
              <a:rPr sz="950">
                <a:solidFill>
                  <a:srgbClr val="334155"/>
                </a:solidFill>
              </a:rPr>
              <a:t> La integración del Punto de Venta (POS) y Servicio Técnico eliminó los tiempos muertos en mostrador y garantizó trazabilidad total.
</a:t>
            </a:r>
          </a:p>
          <a:p>
            <a:r>
              <a:rPr b="1" sz="1050">
                <a:solidFill>
                  <a:srgbClr val="1E1B4B"/>
                </a:solidFill>
              </a:rPr>
              <a:t>✔ 100% Pruebas Aprobadas:
</a:t>
            </a:r>
            <a:r>
              <a:rPr sz="950">
                <a:solidFill>
                  <a:srgbClr val="334155"/>
                </a:solidFill>
              </a:rPr>
              <a:t> 15 pruebas unitarias automatizadas y 8 casos de prueba E2E validaron el software con cero fallos.
</a:t>
            </a:r>
          </a:p>
          <a:p>
            <a:r>
              <a:rPr b="1" sz="1050">
                <a:solidFill>
                  <a:srgbClr val="1E1B4B"/>
                </a:solidFill>
              </a:rPr>
              <a:t>✔ Listo para Producción:
</a:t>
            </a:r>
            <a:r>
              <a:rPr sz="950">
                <a:solidFill>
                  <a:srgbClr val="334155"/>
                </a:solidFill>
              </a:rPr>
              <a:t> El repositorio oficial se encuentra sincronizado en GitHub y listo para ser desplegado.
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645920"/>
            <a:ext cx="4754880" cy="4572000"/>
          </a:xfrm>
          <a:prstGeom prst="roundRect">
            <a:avLst/>
          </a:prstGeom>
          <a:solidFill>
            <a:srgbClr val="4A154B"/>
          </a:solidFill>
          <a:ln w="12700">
            <a:solidFill>
              <a:srgbClr val="5B2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828800"/>
            <a:ext cx="4389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DEMOSTRACIÓN EN VIVO</a:t>
            </a:r>
          </a:p>
          <a:p>
            <a:r>
              <a:rPr b="1" sz="1000">
                <a:solidFill>
                  <a:srgbClr val="DDD6FE"/>
                </a:solidFill>
              </a:rPr>
              <a:t>
Repositorio GitHub:
</a:t>
            </a:r>
            <a:r>
              <a:rPr sz="1000">
                <a:solidFill>
                  <a:srgbClr val="FFFFFF"/>
                </a:solidFill>
              </a:rPr>
              <a:t>https://github.com/alevascan/ximasak</a:t>
            </a:r>
          </a:p>
          <a:p>
            <a:r>
              <a:rPr b="1" sz="1000">
                <a:solidFill>
                  <a:srgbClr val="DDD6FE"/>
                </a:solidFill>
              </a:rPr>
              <a:t>
Servidor Frontend:
</a:t>
            </a:r>
            <a:r>
              <a:rPr sz="1000">
                <a:solidFill>
                  <a:srgbClr val="FFFFFF"/>
                </a:solidFill>
              </a:rPr>
              <a:t>http://localhost:4200 (Angular 17)</a:t>
            </a:r>
          </a:p>
          <a:p>
            <a:r>
              <a:rPr b="1" sz="1000">
                <a:solidFill>
                  <a:srgbClr val="DDD6FE"/>
                </a:solidFill>
              </a:rPr>
              <a:t>
Servidor Backend:
</a:t>
            </a:r>
            <a:r>
              <a:rPr sz="1000">
                <a:solidFill>
                  <a:srgbClr val="FFFFFF"/>
                </a:solidFill>
              </a:rPr>
              <a:t>http://localhost:8080 (Spring Boot 3.5)</a:t>
            </a:r>
          </a:p>
          <a:p>
            <a:r>
              <a:rPr b="1" sz="1000">
                <a:solidFill>
                  <a:srgbClr val="DDD6FE"/>
                </a:solidFill>
              </a:rPr>
              <a:t>
Base de Datos:
</a:t>
            </a:r>
            <a:r>
              <a:rPr sz="1000">
                <a:solidFill>
                  <a:srgbClr val="FFFFFF"/>
                </a:solidFill>
              </a:rPr>
              <a:t>MySQL (Puerto 3306 - ximasak)</a:t>
            </a:r>
          </a:p>
          <a:p>
            <a:r>
              <a:rPr b="1" sz="1000">
                <a:solidFill>
                  <a:srgbClr val="DDD6FE"/>
                </a:solidFill>
              </a:rPr>
              <a:t>
Usuario Admin:
</a:t>
            </a:r>
            <a:r>
              <a:rPr sz="1000">
                <a:solidFill>
                  <a:srgbClr val="FFFFFF"/>
                </a:solidFill>
              </a:rPr>
              <a:t>tasillamatias@gmail.com / 1234</a:t>
            </a:r>
          </a:p>
          <a:p>
            <a:r>
              <a:rPr b="1" sz="1000">
                <a:solidFill>
                  <a:srgbClr val="DDD6FE"/>
                </a:solidFill>
              </a:rPr>
              <a:t>
Usuario Cliente:
</a:t>
            </a:r>
            <a:r>
              <a:rPr sz="1000">
                <a:solidFill>
                  <a:srgbClr val="FFFFFF"/>
                </a:solidFill>
              </a:rPr>
              <a:t>juanpablo@gmail.com / 123456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